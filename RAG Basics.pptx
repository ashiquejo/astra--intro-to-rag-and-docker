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6858000" cx="12192000"/>
  <p:notesSz cx="6858000" cy="9144000"/>
  <p:embeddedFontLst>
    <p:embeddedFont>
      <p:font typeface="Urbanist Medium"/>
      <p:regular r:id="rId17"/>
      <p:bold r:id="rId18"/>
      <p:italic r:id="rId19"/>
      <p:boldItalic r:id="rId20"/>
    </p:embeddedFont>
    <p:embeddedFont>
      <p:font typeface="Urbanist"/>
      <p:bold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UrbanistMedium-boldItalic.fntdata"/><Relationship Id="rId11" Type="http://schemas.openxmlformats.org/officeDocument/2006/relationships/slide" Target="slides/slide6.xml"/><Relationship Id="rId22" Type="http://schemas.openxmlformats.org/officeDocument/2006/relationships/font" Target="fonts/Urbanist-boldItalic.fntdata"/><Relationship Id="rId10" Type="http://schemas.openxmlformats.org/officeDocument/2006/relationships/slide" Target="slides/slide5.xml"/><Relationship Id="rId21" Type="http://schemas.openxmlformats.org/officeDocument/2006/relationships/font" Target="fonts/Urbanist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UrbanistMedium-regular.fntdata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UrbanistMedium-italic.fntdata"/><Relationship Id="rId6" Type="http://schemas.openxmlformats.org/officeDocument/2006/relationships/slide" Target="slides/slide1.xml"/><Relationship Id="rId18" Type="http://schemas.openxmlformats.org/officeDocument/2006/relationships/font" Target="fonts/UrbanistMedium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1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5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1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15.png"/><Relationship Id="rId5" Type="http://schemas.openxmlformats.org/officeDocument/2006/relationships/image" Target="../media/image8.png"/><Relationship Id="rId6" Type="http://schemas.openxmlformats.org/officeDocument/2006/relationships/image" Target="../media/image2.png"/><Relationship Id="rId7" Type="http://schemas.openxmlformats.org/officeDocument/2006/relationships/image" Target="../media/image5.png"/><Relationship Id="rId8" Type="http://schemas.openxmlformats.org/officeDocument/2006/relationships/image" Target="../media/image1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7.png"/><Relationship Id="rId5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Relationship Id="rId4" Type="http://schemas.openxmlformats.org/officeDocument/2006/relationships/image" Target="../media/image1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Relationship Id="rId4" Type="http://schemas.openxmlformats.org/officeDocument/2006/relationships/image" Target="../media/image20.png"/><Relationship Id="rId5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5" name="Google Shape;85;p13"/>
          <p:cNvGrpSpPr/>
          <p:nvPr/>
        </p:nvGrpSpPr>
        <p:grpSpPr>
          <a:xfrm>
            <a:off x="4662488" y="1042988"/>
            <a:ext cx="2867100" cy="352500"/>
            <a:chOff x="-4762" y="-4762"/>
            <a:chExt cx="2867100" cy="352500"/>
          </a:xfrm>
        </p:grpSpPr>
        <p:pic>
          <p:nvPicPr>
            <p:cNvPr id="86" name="Google Shape;86;p1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-4762" y="-4762"/>
              <a:ext cx="2867100" cy="3525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7" name="Google Shape;87;p13"/>
            <p:cNvSpPr txBox="1"/>
            <p:nvPr/>
          </p:nvSpPr>
          <p:spPr>
            <a:xfrm>
              <a:off x="0" y="0"/>
              <a:ext cx="28575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38BDF8"/>
                  </a:solidFill>
                  <a:latin typeface="Urbanist"/>
                  <a:ea typeface="Urbanist"/>
                  <a:cs typeface="Urbanist"/>
                  <a:sym typeface="Urbanist"/>
                </a:rPr>
                <a:t>AI ARCHITECTURE OVERVIEW</a:t>
              </a:r>
              <a:endParaRPr b="1" sz="1100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</p:grpSp>
      <p:sp>
        <p:nvSpPr>
          <p:cNvPr id="88" name="Google Shape;88;p13"/>
          <p:cNvSpPr txBox="1"/>
          <p:nvPr/>
        </p:nvSpPr>
        <p:spPr>
          <a:xfrm>
            <a:off x="952500" y="1619250"/>
            <a:ext cx="102870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800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Introduction to </a:t>
            </a:r>
            <a:r>
              <a:rPr b="1" lang="en-US" sz="5800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RAG</a:t>
            </a:r>
            <a:endParaRPr b="1" sz="5800">
              <a:solidFill>
                <a:srgbClr val="F8FAFC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89" name="Google Shape;89;p13"/>
          <p:cNvSpPr txBox="1"/>
          <p:nvPr/>
        </p:nvSpPr>
        <p:spPr>
          <a:xfrm>
            <a:off x="1809750" y="2667000"/>
            <a:ext cx="8572500" cy="66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Retrieval-Augmented Generation: Empowering LLMs with External Knowledge Base Capabilities.</a:t>
            </a:r>
            <a:endParaRPr b="0" sz="2000">
              <a:solidFill>
                <a:srgbClr val="CBD5E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grpSp>
        <p:nvGrpSpPr>
          <p:cNvPr id="90" name="Google Shape;90;p13"/>
          <p:cNvGrpSpPr/>
          <p:nvPr/>
        </p:nvGrpSpPr>
        <p:grpSpPr>
          <a:xfrm>
            <a:off x="809625" y="4000500"/>
            <a:ext cx="3238500" cy="1809600"/>
            <a:chOff x="0" y="0"/>
            <a:chExt cx="3238500" cy="1809600"/>
          </a:xfrm>
        </p:grpSpPr>
        <p:sp>
          <p:nvSpPr>
            <p:cNvPr id="91" name="Google Shape;91;p13"/>
            <p:cNvSpPr/>
            <p:nvPr/>
          </p:nvSpPr>
          <p:spPr>
            <a:xfrm>
              <a:off x="0" y="0"/>
              <a:ext cx="3238500" cy="1809600"/>
            </a:xfrm>
            <a:prstGeom prst="roundRect">
              <a:avLst>
                <a:gd fmla="val 8421" name="adj"/>
              </a:avLst>
            </a:prstGeom>
            <a:solidFill>
              <a:srgbClr val="1E293B">
                <a:alpha val="80000"/>
              </a:srgbClr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13"/>
            <p:cNvSpPr/>
            <p:nvPr/>
          </p:nvSpPr>
          <p:spPr>
            <a:xfrm>
              <a:off x="0" y="0"/>
              <a:ext cx="3238500" cy="38100"/>
            </a:xfrm>
            <a:prstGeom prst="roundRect">
              <a:avLst>
                <a:gd fmla="val 50000" name="adj"/>
              </a:avLst>
            </a:prstGeom>
            <a:solidFill>
              <a:srgbClr val="38BDF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" name="Google Shape;93;p13"/>
            <p:cNvSpPr txBox="1"/>
            <p:nvPr/>
          </p:nvSpPr>
          <p:spPr>
            <a:xfrm>
              <a:off x="285750" y="238125"/>
              <a:ext cx="2667000" cy="133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590">
                  <a:solidFill>
                    <a:srgbClr val="38BDF8"/>
                  </a:solidFill>
                  <a:latin typeface="Urbanist"/>
                  <a:ea typeface="Urbanist"/>
                  <a:cs typeface="Urbanist"/>
                  <a:sym typeface="Urbanist"/>
                </a:rPr>
                <a:t>R</a:t>
              </a:r>
              <a:endParaRPr b="1" sz="2590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-US" sz="1665">
                  <a:solidFill>
                    <a:srgbClr val="F8FAFC"/>
                  </a:solidFill>
                  <a:latin typeface="Urbanist"/>
                  <a:ea typeface="Urbanist"/>
                  <a:cs typeface="Urbanist"/>
                  <a:sym typeface="Urbanist"/>
                </a:rPr>
                <a:t>Retrieval</a:t>
              </a:r>
              <a:endParaRPr b="1" sz="1665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1203">
                  <a:solidFill>
                    <a:srgbClr val="94A3B8"/>
                  </a:solidFill>
                  <a:latin typeface="Urbanist"/>
                  <a:ea typeface="Urbanist"/>
                  <a:cs typeface="Urbanist"/>
                  <a:sym typeface="Urbanist"/>
                </a:rPr>
                <a:t>Fetches relevant context &amp; documents from external vector stores.</a:t>
              </a:r>
              <a:endParaRPr b="0" sz="1203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</p:grpSp>
      <p:grpSp>
        <p:nvGrpSpPr>
          <p:cNvPr id="94" name="Google Shape;94;p13"/>
          <p:cNvGrpSpPr/>
          <p:nvPr/>
        </p:nvGrpSpPr>
        <p:grpSpPr>
          <a:xfrm>
            <a:off x="4476750" y="4000500"/>
            <a:ext cx="3238500" cy="1809600"/>
            <a:chOff x="0" y="0"/>
            <a:chExt cx="3238500" cy="1809600"/>
          </a:xfrm>
        </p:grpSpPr>
        <p:sp>
          <p:nvSpPr>
            <p:cNvPr id="95" name="Google Shape;95;p13"/>
            <p:cNvSpPr/>
            <p:nvPr/>
          </p:nvSpPr>
          <p:spPr>
            <a:xfrm>
              <a:off x="0" y="0"/>
              <a:ext cx="3238500" cy="1809600"/>
            </a:xfrm>
            <a:prstGeom prst="roundRect">
              <a:avLst>
                <a:gd fmla="val 8421" name="adj"/>
              </a:avLst>
            </a:prstGeom>
            <a:solidFill>
              <a:srgbClr val="1E293B">
                <a:alpha val="80000"/>
              </a:srgbClr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" name="Google Shape;96;p13"/>
            <p:cNvSpPr/>
            <p:nvPr/>
          </p:nvSpPr>
          <p:spPr>
            <a:xfrm>
              <a:off x="0" y="0"/>
              <a:ext cx="3238500" cy="38100"/>
            </a:xfrm>
            <a:prstGeom prst="roundRect">
              <a:avLst>
                <a:gd fmla="val 50000" name="adj"/>
              </a:avLst>
            </a:prstGeom>
            <a:solidFill>
              <a:srgbClr val="38BDF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" name="Google Shape;97;p13"/>
            <p:cNvSpPr txBox="1"/>
            <p:nvPr/>
          </p:nvSpPr>
          <p:spPr>
            <a:xfrm>
              <a:off x="285750" y="238125"/>
              <a:ext cx="2667000" cy="133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800">
                  <a:solidFill>
                    <a:srgbClr val="38BDF8"/>
                  </a:solidFill>
                  <a:latin typeface="Urbanist"/>
                  <a:ea typeface="Urbanist"/>
                  <a:cs typeface="Urbanist"/>
                  <a:sym typeface="Urbanist"/>
                </a:rPr>
                <a:t>A</a:t>
              </a:r>
              <a:endParaRPr b="1" sz="2800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F8FAFC"/>
                  </a:solidFill>
                  <a:latin typeface="Urbanist"/>
                  <a:ea typeface="Urbanist"/>
                  <a:cs typeface="Urbanist"/>
                  <a:sym typeface="Urbanist"/>
                </a:rPr>
                <a:t>Augmentation</a:t>
              </a:r>
              <a:endParaRPr b="1" sz="1800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1300">
                  <a:solidFill>
                    <a:srgbClr val="94A3B8"/>
                  </a:solidFill>
                  <a:latin typeface="Urbanist"/>
                  <a:ea typeface="Urbanist"/>
                  <a:cs typeface="Urbanist"/>
                  <a:sym typeface="Urbanist"/>
                </a:rPr>
                <a:t>Enriches user prompts with live factual data before model inference.</a:t>
              </a:r>
              <a:endParaRPr b="0" sz="130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</p:grpSp>
      <p:grpSp>
        <p:nvGrpSpPr>
          <p:cNvPr id="98" name="Google Shape;98;p13"/>
          <p:cNvGrpSpPr/>
          <p:nvPr/>
        </p:nvGrpSpPr>
        <p:grpSpPr>
          <a:xfrm>
            <a:off x="8143875" y="4000500"/>
            <a:ext cx="3238500" cy="1809600"/>
            <a:chOff x="0" y="0"/>
            <a:chExt cx="3238500" cy="1809600"/>
          </a:xfrm>
        </p:grpSpPr>
        <p:sp>
          <p:nvSpPr>
            <p:cNvPr id="99" name="Google Shape;99;p13"/>
            <p:cNvSpPr/>
            <p:nvPr/>
          </p:nvSpPr>
          <p:spPr>
            <a:xfrm>
              <a:off x="0" y="0"/>
              <a:ext cx="3238500" cy="1809600"/>
            </a:xfrm>
            <a:prstGeom prst="roundRect">
              <a:avLst>
                <a:gd fmla="val 8421" name="adj"/>
              </a:avLst>
            </a:prstGeom>
            <a:solidFill>
              <a:srgbClr val="1E293B">
                <a:alpha val="80000"/>
              </a:srgbClr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" name="Google Shape;100;p13"/>
            <p:cNvSpPr/>
            <p:nvPr/>
          </p:nvSpPr>
          <p:spPr>
            <a:xfrm>
              <a:off x="0" y="0"/>
              <a:ext cx="3238500" cy="38100"/>
            </a:xfrm>
            <a:prstGeom prst="roundRect">
              <a:avLst>
                <a:gd fmla="val 50000" name="adj"/>
              </a:avLst>
            </a:prstGeom>
            <a:solidFill>
              <a:srgbClr val="38BDF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" name="Google Shape;101;p13"/>
            <p:cNvSpPr txBox="1"/>
            <p:nvPr/>
          </p:nvSpPr>
          <p:spPr>
            <a:xfrm>
              <a:off x="285750" y="238125"/>
              <a:ext cx="2667000" cy="133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800">
                  <a:solidFill>
                    <a:srgbClr val="38BDF8"/>
                  </a:solidFill>
                  <a:latin typeface="Urbanist"/>
                  <a:ea typeface="Urbanist"/>
                  <a:cs typeface="Urbanist"/>
                  <a:sym typeface="Urbanist"/>
                </a:rPr>
                <a:t>G</a:t>
              </a:r>
              <a:endParaRPr b="1" sz="2800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F8FAFC"/>
                  </a:solidFill>
                  <a:latin typeface="Urbanist"/>
                  <a:ea typeface="Urbanist"/>
                  <a:cs typeface="Urbanist"/>
                  <a:sym typeface="Urbanist"/>
                </a:rPr>
                <a:t>Generation</a:t>
              </a:r>
              <a:endParaRPr b="1" sz="1800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1300">
                  <a:solidFill>
                    <a:srgbClr val="94A3B8"/>
                  </a:solidFill>
                  <a:latin typeface="Urbanist"/>
                  <a:ea typeface="Urbanist"/>
                  <a:cs typeface="Urbanist"/>
                  <a:sym typeface="Urbanist"/>
                </a:rPr>
                <a:t>Produces grounded, highly accurate answers with reduced hallucination.</a:t>
              </a:r>
              <a:endParaRPr b="0" sz="130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6" name="Google Shape;106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7" name="Google Shape;107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341512"/>
            <a:ext cx="5286375" cy="310455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8" name="Google Shape;108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2341512"/>
            <a:ext cx="5286375" cy="3104554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962025" y="2732037"/>
            <a:ext cx="4730591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1. Hallucinations</a:t>
            </a:r>
            <a:endParaRPr/>
          </a:p>
        </p:txBody>
      </p:sp>
      <p:sp>
        <p:nvSpPr>
          <p:cNvPr id="110" name="Google Shape;110;p14"/>
          <p:cNvSpPr txBox="1"/>
          <p:nvPr/>
        </p:nvSpPr>
        <p:spPr>
          <a:xfrm>
            <a:off x="962025" y="3236862"/>
            <a:ext cx="4505325" cy="16758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LLMs are trained to generate text, not tell the truth. If you ask a standard model about events outside its training data, it will confidently make up false information (hallucinate) rather than admitting it doesn't know.</a:t>
            </a:r>
            <a:endParaRPr/>
          </a:p>
        </p:txBody>
      </p:sp>
      <p:sp>
        <p:nvSpPr>
          <p:cNvPr id="111" name="Google Shape;111;p14"/>
          <p:cNvSpPr txBox="1"/>
          <p:nvPr/>
        </p:nvSpPr>
        <p:spPr>
          <a:xfrm>
            <a:off x="6724650" y="2732037"/>
            <a:ext cx="4730591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2. Stale &amp; Private Data</a:t>
            </a:r>
            <a:endParaRPr/>
          </a:p>
        </p:txBody>
      </p:sp>
      <p:sp>
        <p:nvSpPr>
          <p:cNvPr id="112" name="Google Shape;112;p14"/>
          <p:cNvSpPr txBox="1"/>
          <p:nvPr/>
        </p:nvSpPr>
        <p:spPr>
          <a:xfrm>
            <a:off x="6724650" y="3236862"/>
            <a:ext cx="4505325" cy="16758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Models have a "knowledge cutoff" (e.g., trained up to August 2021). Furthermore, you cannot securely train a public LLM on internal, proprietary company data like HR policies or confidential finance reports.</a:t>
            </a:r>
            <a:endParaRPr/>
          </a:p>
        </p:txBody>
      </p:sp>
      <p:sp>
        <p:nvSpPr>
          <p:cNvPr id="113" name="Google Shape;113;p14"/>
          <p:cNvSpPr txBox="1"/>
          <p:nvPr/>
        </p:nvSpPr>
        <p:spPr>
          <a:xfrm>
            <a:off x="571500" y="571500"/>
            <a:ext cx="116014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The Problem with Standard </a:t>
            </a:r>
            <a:r>
              <a:rPr b="1" i="0" lang="en-US" sz="360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LLMs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8" name="Google Shape;118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5"/>
          <p:cNvSpPr txBox="1"/>
          <p:nvPr/>
        </p:nvSpPr>
        <p:spPr>
          <a:xfrm>
            <a:off x="1876425" y="1532632"/>
            <a:ext cx="8439150" cy="4160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900" u="none" cap="none" strike="noStrike">
                <a:solidFill>
                  <a:srgbClr val="F8FAFC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RAG is the process of optimizing the output of a large language model by referencing an authoritative knowledge base outside of its training data sources before generating a response.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5505450" y="6073973"/>
            <a:ext cx="118110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2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— Core Definition</a:t>
            </a:r>
            <a:endParaRPr/>
          </a:p>
        </p:txBody>
      </p:sp>
      <p:sp>
        <p:nvSpPr>
          <p:cNvPr id="121" name="Google Shape;121;p15"/>
          <p:cNvSpPr txBox="1"/>
          <p:nvPr/>
        </p:nvSpPr>
        <p:spPr>
          <a:xfrm>
            <a:off x="1209675" y="1913632"/>
            <a:ext cx="3048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0" u="none" cap="none" strike="noStrike">
                <a:solidFill>
                  <a:srgbClr val="33415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"</a:t>
            </a:r>
            <a:endParaRPr/>
          </a:p>
        </p:txBody>
      </p:sp>
      <p:sp>
        <p:nvSpPr>
          <p:cNvPr id="122" name="Google Shape;122;p15"/>
          <p:cNvSpPr txBox="1"/>
          <p:nvPr/>
        </p:nvSpPr>
        <p:spPr>
          <a:xfrm>
            <a:off x="10677525" y="5597721"/>
            <a:ext cx="304800" cy="12602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0" u="none" cap="none" strike="noStrike">
                <a:solidFill>
                  <a:srgbClr val="33415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"</a:t>
            </a:r>
            <a:endParaRPr/>
          </a:p>
        </p:txBody>
      </p:sp>
      <p:sp>
        <p:nvSpPr>
          <p:cNvPr id="123" name="Google Shape;123;p15"/>
          <p:cNvSpPr txBox="1"/>
          <p:nvPr/>
        </p:nvSpPr>
        <p:spPr>
          <a:xfrm>
            <a:off x="295275" y="571500"/>
            <a:ext cx="116014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What is </a:t>
            </a:r>
            <a:r>
              <a:rPr b="1" i="0" lang="en-US" sz="360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RAG</a:t>
            </a:r>
            <a:r>
              <a:rPr b="1" i="0" lang="en-US" sz="36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?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8" name="Google Shape;128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9" name="Google Shape;129;p16"/>
          <p:cNvGrpSpPr/>
          <p:nvPr/>
        </p:nvGrpSpPr>
        <p:grpSpPr>
          <a:xfrm>
            <a:off x="809625" y="1095375"/>
            <a:ext cx="10572825" cy="333300"/>
            <a:chOff x="238125" y="0"/>
            <a:chExt cx="10572825" cy="333300"/>
          </a:xfrm>
        </p:grpSpPr>
        <p:sp>
          <p:nvSpPr>
            <p:cNvPr id="130" name="Google Shape;130;p16"/>
            <p:cNvSpPr txBox="1"/>
            <p:nvPr/>
          </p:nvSpPr>
          <p:spPr>
            <a:xfrm>
              <a:off x="238125" y="0"/>
              <a:ext cx="2095500" cy="33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94A3B8"/>
                  </a:solidFill>
                  <a:latin typeface="Urbanist"/>
                  <a:ea typeface="Urbanist"/>
                  <a:cs typeface="Urbanist"/>
                  <a:sym typeface="Urbanist"/>
                </a:rPr>
                <a:t>Feature</a:t>
              </a:r>
              <a:endParaRPr b="1" sz="120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sp>
          <p:nvSpPr>
            <p:cNvPr id="131" name="Google Shape;131;p16"/>
            <p:cNvSpPr txBox="1"/>
            <p:nvPr/>
          </p:nvSpPr>
          <p:spPr>
            <a:xfrm>
              <a:off x="2571750" y="0"/>
              <a:ext cx="3905400" cy="33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94A3B8"/>
                  </a:solidFill>
                  <a:latin typeface="Urbanist"/>
                  <a:ea typeface="Urbanist"/>
                  <a:cs typeface="Urbanist"/>
                  <a:sym typeface="Urbanist"/>
                </a:rPr>
                <a:t>Fine-Tuning</a:t>
              </a:r>
              <a:endParaRPr b="1" sz="120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sp>
          <p:nvSpPr>
            <p:cNvPr id="132" name="Google Shape;132;p16"/>
            <p:cNvSpPr txBox="1"/>
            <p:nvPr/>
          </p:nvSpPr>
          <p:spPr>
            <a:xfrm>
              <a:off x="6762750" y="0"/>
              <a:ext cx="4048200" cy="33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38BDF8"/>
                  </a:solidFill>
                  <a:latin typeface="Urbanist"/>
                  <a:ea typeface="Urbanist"/>
                  <a:cs typeface="Urbanist"/>
                  <a:sym typeface="Urbanist"/>
                </a:rPr>
                <a:t>RAG (Retrieval-Augmented Generation)</a:t>
              </a:r>
              <a:endParaRPr b="1" sz="1200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</p:grpSp>
      <p:grpSp>
        <p:nvGrpSpPr>
          <p:cNvPr id="133" name="Google Shape;133;p16"/>
          <p:cNvGrpSpPr/>
          <p:nvPr/>
        </p:nvGrpSpPr>
        <p:grpSpPr>
          <a:xfrm>
            <a:off x="571500" y="1471613"/>
            <a:ext cx="11049000" cy="1057200"/>
            <a:chOff x="0" y="-4762"/>
            <a:chExt cx="11049000" cy="1057200"/>
          </a:xfrm>
        </p:grpSpPr>
        <p:sp>
          <p:nvSpPr>
            <p:cNvPr id="134" name="Google Shape;134;p16"/>
            <p:cNvSpPr/>
            <p:nvPr/>
          </p:nvSpPr>
          <p:spPr>
            <a:xfrm>
              <a:off x="0" y="0"/>
              <a:ext cx="11049000" cy="1047900"/>
            </a:xfrm>
            <a:prstGeom prst="roundRect">
              <a:avLst>
                <a:gd fmla="val 10909" name="adj"/>
              </a:avLst>
            </a:prstGeom>
            <a:solidFill>
              <a:srgbClr val="1E293B">
                <a:alpha val="70000"/>
              </a:srgbClr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35" name="Google Shape;135;p1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567488" y="-4762"/>
              <a:ext cx="2576400" cy="10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6" name="Google Shape;136;p16"/>
            <p:cNvSpPr txBox="1"/>
            <p:nvPr/>
          </p:nvSpPr>
          <p:spPr>
            <a:xfrm>
              <a:off x="238125" y="0"/>
              <a:ext cx="20955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700">
                  <a:solidFill>
                    <a:srgbClr val="38BDF8"/>
                  </a:solidFill>
                  <a:latin typeface="Urbanist"/>
                  <a:ea typeface="Urbanist"/>
                  <a:cs typeface="Urbanist"/>
                  <a:sym typeface="Urbanist"/>
                </a:rPr>
                <a:t>Cost &amp; Effort</a:t>
              </a:r>
              <a:endParaRPr b="1" sz="1700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sp>
          <p:nvSpPr>
            <p:cNvPr id="137" name="Google Shape;137;p16"/>
            <p:cNvSpPr txBox="1"/>
            <p:nvPr/>
          </p:nvSpPr>
          <p:spPr>
            <a:xfrm>
              <a:off x="2571750" y="0"/>
              <a:ext cx="37149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400">
                  <a:solidFill>
                    <a:srgbClr val="CBD5E1"/>
                  </a:solidFill>
                  <a:latin typeface="Urbanist"/>
                  <a:ea typeface="Urbanist"/>
                  <a:cs typeface="Urbanist"/>
                  <a:sym typeface="Urbanist"/>
                </a:rPr>
                <a:t>Extremely expensive and tedious.</a:t>
              </a:r>
              <a:endParaRPr b="0" sz="140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sp>
          <p:nvSpPr>
            <p:cNvPr id="138" name="Google Shape;138;p16"/>
            <p:cNvSpPr txBox="1"/>
            <p:nvPr/>
          </p:nvSpPr>
          <p:spPr>
            <a:xfrm>
              <a:off x="6762750" y="0"/>
              <a:ext cx="40482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400">
                  <a:solidFill>
                    <a:srgbClr val="F8FAFC"/>
                  </a:solidFill>
                  <a:latin typeface="Urbanist Medium"/>
                  <a:ea typeface="Urbanist Medium"/>
                  <a:cs typeface="Urbanist Medium"/>
                  <a:sym typeface="Urbanist Medium"/>
                </a:rPr>
                <a:t>Highly cost-effective and faster to implement.</a:t>
              </a:r>
              <a:endParaRPr b="0" sz="1400">
                <a:solidFill>
                  <a:srgbClr val="F8FAFC"/>
                </a:solidFill>
                <a:latin typeface="Urbanist Medium"/>
                <a:ea typeface="Urbanist Medium"/>
                <a:cs typeface="Urbanist Medium"/>
                <a:sym typeface="Urbanist Medium"/>
              </a:endParaRPr>
            </a:p>
          </p:txBody>
        </p:sp>
      </p:grpSp>
      <p:grpSp>
        <p:nvGrpSpPr>
          <p:cNvPr id="139" name="Google Shape;139;p16"/>
          <p:cNvGrpSpPr/>
          <p:nvPr/>
        </p:nvGrpSpPr>
        <p:grpSpPr>
          <a:xfrm>
            <a:off x="571500" y="2662238"/>
            <a:ext cx="11049000" cy="1057200"/>
            <a:chOff x="0" y="-4762"/>
            <a:chExt cx="11049000" cy="1057200"/>
          </a:xfrm>
        </p:grpSpPr>
        <p:sp>
          <p:nvSpPr>
            <p:cNvPr id="140" name="Google Shape;140;p16"/>
            <p:cNvSpPr/>
            <p:nvPr/>
          </p:nvSpPr>
          <p:spPr>
            <a:xfrm>
              <a:off x="0" y="0"/>
              <a:ext cx="11049000" cy="1047900"/>
            </a:xfrm>
            <a:prstGeom prst="roundRect">
              <a:avLst>
                <a:gd fmla="val 10909" name="adj"/>
              </a:avLst>
            </a:prstGeom>
            <a:solidFill>
              <a:srgbClr val="1E293B">
                <a:alpha val="70000"/>
              </a:srgbClr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41" name="Google Shape;141;p1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567488" y="-4762"/>
              <a:ext cx="2576400" cy="10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2" name="Google Shape;142;p16"/>
            <p:cNvSpPr txBox="1"/>
            <p:nvPr/>
          </p:nvSpPr>
          <p:spPr>
            <a:xfrm>
              <a:off x="238125" y="0"/>
              <a:ext cx="20955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700">
                  <a:solidFill>
                    <a:srgbClr val="38BDF8"/>
                  </a:solidFill>
                  <a:latin typeface="Urbanist"/>
                  <a:ea typeface="Urbanist"/>
                  <a:cs typeface="Urbanist"/>
                  <a:sym typeface="Urbanist"/>
                </a:rPr>
                <a:t>Updating Knowledge</a:t>
              </a:r>
              <a:endParaRPr b="1" sz="1700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sp>
          <p:nvSpPr>
            <p:cNvPr id="143" name="Google Shape;143;p16"/>
            <p:cNvSpPr txBox="1"/>
            <p:nvPr/>
          </p:nvSpPr>
          <p:spPr>
            <a:xfrm>
              <a:off x="2571750" y="0"/>
              <a:ext cx="37149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400">
                  <a:solidFill>
                    <a:srgbClr val="CBD5E1"/>
                  </a:solidFill>
                  <a:latin typeface="Urbanist"/>
                  <a:ea typeface="Urbanist"/>
                  <a:cs typeface="Urbanist"/>
                  <a:sym typeface="Urbanist"/>
                </a:rPr>
                <a:t>Requires retraining the model repeatedly.</a:t>
              </a:r>
              <a:endParaRPr b="0" sz="140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sp>
          <p:nvSpPr>
            <p:cNvPr id="144" name="Google Shape;144;p16"/>
            <p:cNvSpPr txBox="1"/>
            <p:nvPr/>
          </p:nvSpPr>
          <p:spPr>
            <a:xfrm>
              <a:off x="6762750" y="0"/>
              <a:ext cx="40482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400">
                  <a:solidFill>
                    <a:srgbClr val="F8FAFC"/>
                  </a:solidFill>
                  <a:latin typeface="Urbanist Medium"/>
                  <a:ea typeface="Urbanist Medium"/>
                  <a:cs typeface="Urbanist Medium"/>
                  <a:sym typeface="Urbanist Medium"/>
                </a:rPr>
                <a:t>Just drop new documents into the Vector DB.</a:t>
              </a:r>
              <a:endParaRPr b="0" sz="1400">
                <a:solidFill>
                  <a:srgbClr val="F8FAFC"/>
                </a:solidFill>
                <a:latin typeface="Urbanist Medium"/>
                <a:ea typeface="Urbanist Medium"/>
                <a:cs typeface="Urbanist Medium"/>
                <a:sym typeface="Urbanist Medium"/>
              </a:endParaRPr>
            </a:p>
          </p:txBody>
        </p:sp>
      </p:grpSp>
      <p:grpSp>
        <p:nvGrpSpPr>
          <p:cNvPr id="145" name="Google Shape;145;p16"/>
          <p:cNvGrpSpPr/>
          <p:nvPr/>
        </p:nvGrpSpPr>
        <p:grpSpPr>
          <a:xfrm>
            <a:off x="571500" y="3852863"/>
            <a:ext cx="11049000" cy="1057200"/>
            <a:chOff x="0" y="-4762"/>
            <a:chExt cx="11049000" cy="1057200"/>
          </a:xfrm>
        </p:grpSpPr>
        <p:sp>
          <p:nvSpPr>
            <p:cNvPr id="146" name="Google Shape;146;p16"/>
            <p:cNvSpPr/>
            <p:nvPr/>
          </p:nvSpPr>
          <p:spPr>
            <a:xfrm>
              <a:off x="0" y="0"/>
              <a:ext cx="11049000" cy="1047900"/>
            </a:xfrm>
            <a:prstGeom prst="roundRect">
              <a:avLst>
                <a:gd fmla="val 10909" name="adj"/>
              </a:avLst>
            </a:prstGeom>
            <a:solidFill>
              <a:srgbClr val="1E293B">
                <a:alpha val="70000"/>
              </a:srgbClr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47" name="Google Shape;147;p1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567488" y="-4762"/>
              <a:ext cx="2576400" cy="10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8" name="Google Shape;148;p16"/>
            <p:cNvSpPr txBox="1"/>
            <p:nvPr/>
          </p:nvSpPr>
          <p:spPr>
            <a:xfrm>
              <a:off x="238125" y="0"/>
              <a:ext cx="20955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700">
                  <a:solidFill>
                    <a:srgbClr val="38BDF8"/>
                  </a:solidFill>
                  <a:latin typeface="Urbanist"/>
                  <a:ea typeface="Urbanist"/>
                  <a:cs typeface="Urbanist"/>
                  <a:sym typeface="Urbanist"/>
                </a:rPr>
                <a:t>Hallucination Risk</a:t>
              </a:r>
              <a:endParaRPr b="1" sz="1700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sp>
          <p:nvSpPr>
            <p:cNvPr id="149" name="Google Shape;149;p16"/>
            <p:cNvSpPr txBox="1"/>
            <p:nvPr/>
          </p:nvSpPr>
          <p:spPr>
            <a:xfrm>
              <a:off x="2571750" y="0"/>
              <a:ext cx="37149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400">
                  <a:solidFill>
                    <a:srgbClr val="CBD5E1"/>
                  </a:solidFill>
                  <a:latin typeface="Urbanist"/>
                  <a:ea typeface="Urbanist"/>
                  <a:cs typeface="Urbanist"/>
                  <a:sym typeface="Urbanist"/>
                </a:rPr>
                <a:t>High </a:t>
              </a:r>
              <a:r>
                <a:rPr b="0" lang="en-US" sz="1200">
                  <a:solidFill>
                    <a:srgbClr val="94A3B8"/>
                  </a:solidFill>
                  <a:latin typeface="Urbanist"/>
                  <a:ea typeface="Urbanist"/>
                  <a:cs typeface="Urbanist"/>
                  <a:sym typeface="Urbanist"/>
                </a:rPr>
                <a:t>(Model still relies on parameterized memory)</a:t>
              </a:r>
              <a:r>
                <a:rPr b="0" lang="en-US" sz="1400">
                  <a:solidFill>
                    <a:srgbClr val="CBD5E1"/>
                  </a:solidFill>
                  <a:latin typeface="Urbanist"/>
                  <a:ea typeface="Urbanist"/>
                  <a:cs typeface="Urbanist"/>
                  <a:sym typeface="Urbanist"/>
                </a:rPr>
                <a:t>.</a:t>
              </a:r>
              <a:endParaRPr b="0" sz="140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sp>
          <p:nvSpPr>
            <p:cNvPr id="150" name="Google Shape;150;p16"/>
            <p:cNvSpPr txBox="1"/>
            <p:nvPr/>
          </p:nvSpPr>
          <p:spPr>
            <a:xfrm>
              <a:off x="6762750" y="0"/>
              <a:ext cx="40482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400">
                  <a:solidFill>
                    <a:srgbClr val="F8FAFC"/>
                  </a:solidFill>
                  <a:latin typeface="Urbanist Medium"/>
                  <a:ea typeface="Urbanist Medium"/>
                  <a:cs typeface="Urbanist Medium"/>
                  <a:sym typeface="Urbanist Medium"/>
                </a:rPr>
                <a:t>Low </a:t>
              </a:r>
              <a:r>
                <a:rPr b="0" lang="en-US" sz="1200">
                  <a:solidFill>
                    <a:srgbClr val="94A3B8"/>
                  </a:solidFill>
                  <a:latin typeface="Urbanist Medium"/>
                  <a:ea typeface="Urbanist Medium"/>
                  <a:cs typeface="Urbanist Medium"/>
                  <a:sym typeface="Urbanist Medium"/>
                </a:rPr>
                <a:t>(Model relies on explicit retrieved context)</a:t>
              </a:r>
              <a:r>
                <a:rPr b="0" lang="en-US" sz="1400">
                  <a:solidFill>
                    <a:srgbClr val="F8FAFC"/>
                  </a:solidFill>
                  <a:latin typeface="Urbanist Medium"/>
                  <a:ea typeface="Urbanist Medium"/>
                  <a:cs typeface="Urbanist Medium"/>
                  <a:sym typeface="Urbanist Medium"/>
                </a:rPr>
                <a:t>.</a:t>
              </a:r>
              <a:endParaRPr b="0" sz="1400">
                <a:solidFill>
                  <a:srgbClr val="F8FAFC"/>
                </a:solidFill>
                <a:latin typeface="Urbanist Medium"/>
                <a:ea typeface="Urbanist Medium"/>
                <a:cs typeface="Urbanist Medium"/>
                <a:sym typeface="Urbanist Medium"/>
              </a:endParaRPr>
            </a:p>
          </p:txBody>
        </p:sp>
      </p:grpSp>
      <p:grpSp>
        <p:nvGrpSpPr>
          <p:cNvPr id="151" name="Google Shape;151;p16"/>
          <p:cNvGrpSpPr/>
          <p:nvPr/>
        </p:nvGrpSpPr>
        <p:grpSpPr>
          <a:xfrm>
            <a:off x="571500" y="5043488"/>
            <a:ext cx="11049000" cy="1057200"/>
            <a:chOff x="0" y="-4762"/>
            <a:chExt cx="11049000" cy="1057200"/>
          </a:xfrm>
        </p:grpSpPr>
        <p:sp>
          <p:nvSpPr>
            <p:cNvPr id="152" name="Google Shape;152;p16"/>
            <p:cNvSpPr/>
            <p:nvPr/>
          </p:nvSpPr>
          <p:spPr>
            <a:xfrm>
              <a:off x="0" y="0"/>
              <a:ext cx="11049000" cy="1047900"/>
            </a:xfrm>
            <a:prstGeom prst="roundRect">
              <a:avLst>
                <a:gd fmla="val 10909" name="adj"/>
              </a:avLst>
            </a:prstGeom>
            <a:solidFill>
              <a:srgbClr val="1E293B">
                <a:alpha val="70000"/>
              </a:srgbClr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53" name="Google Shape;153;p1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567488" y="-4762"/>
              <a:ext cx="2576400" cy="10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4" name="Google Shape;154;p16"/>
            <p:cNvSpPr txBox="1"/>
            <p:nvPr/>
          </p:nvSpPr>
          <p:spPr>
            <a:xfrm>
              <a:off x="238125" y="0"/>
              <a:ext cx="20955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700">
                  <a:solidFill>
                    <a:srgbClr val="38BDF8"/>
                  </a:solidFill>
                  <a:latin typeface="Urbanist"/>
                  <a:ea typeface="Urbanist"/>
                  <a:cs typeface="Urbanist"/>
                  <a:sym typeface="Urbanist"/>
                </a:rPr>
                <a:t>Use Case</a:t>
              </a:r>
              <a:endParaRPr b="1" sz="1700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sp>
          <p:nvSpPr>
            <p:cNvPr id="155" name="Google Shape;155;p16"/>
            <p:cNvSpPr txBox="1"/>
            <p:nvPr/>
          </p:nvSpPr>
          <p:spPr>
            <a:xfrm>
              <a:off x="2571750" y="0"/>
              <a:ext cx="37149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400">
                  <a:solidFill>
                    <a:srgbClr val="CBD5E1"/>
                  </a:solidFill>
                  <a:latin typeface="Urbanist"/>
                  <a:ea typeface="Urbanist"/>
                  <a:cs typeface="Urbanist"/>
                  <a:sym typeface="Urbanist"/>
                </a:rPr>
                <a:t>Changing the model's tone, style, or format.</a:t>
              </a:r>
              <a:endParaRPr b="0" sz="140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sp>
          <p:nvSpPr>
            <p:cNvPr id="156" name="Google Shape;156;p16"/>
            <p:cNvSpPr txBox="1"/>
            <p:nvPr/>
          </p:nvSpPr>
          <p:spPr>
            <a:xfrm>
              <a:off x="6762750" y="0"/>
              <a:ext cx="40482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400">
                  <a:solidFill>
                    <a:srgbClr val="F8FAFC"/>
                  </a:solidFill>
                  <a:latin typeface="Urbanist Medium"/>
                  <a:ea typeface="Urbanist Medium"/>
                  <a:cs typeface="Urbanist Medium"/>
                  <a:sym typeface="Urbanist Medium"/>
                </a:rPr>
                <a:t>Adding factual, internal, or real-time knowledge.</a:t>
              </a:r>
              <a:endParaRPr b="0" sz="1400">
                <a:solidFill>
                  <a:srgbClr val="F8FAFC"/>
                </a:solidFill>
                <a:latin typeface="Urbanist Medium"/>
                <a:ea typeface="Urbanist Medium"/>
                <a:cs typeface="Urbanist Medium"/>
                <a:sym typeface="Urbanist Medium"/>
              </a:endParaRPr>
            </a:p>
          </p:txBody>
        </p:sp>
      </p:grpSp>
      <p:sp>
        <p:nvSpPr>
          <p:cNvPr id="157" name="Google Shape;157;p16"/>
          <p:cNvSpPr txBox="1"/>
          <p:nvPr/>
        </p:nvSpPr>
        <p:spPr>
          <a:xfrm>
            <a:off x="571500" y="428625"/>
            <a:ext cx="11049000" cy="492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Why Not Just </a:t>
            </a:r>
            <a:r>
              <a:rPr b="1" lang="en-US" sz="3200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Fine-Tune</a:t>
            </a:r>
            <a:r>
              <a:rPr b="1" lang="en-US" sz="3200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 the Model?</a:t>
            </a:r>
            <a:endParaRPr b="1" sz="3200">
              <a:solidFill>
                <a:srgbClr val="F8FAFC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2" name="Google Shape;162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3" name="Google Shape;163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984027"/>
            <a:ext cx="3429000" cy="38195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4" name="Google Shape;164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81500" y="1984027"/>
            <a:ext cx="3429000" cy="38195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5" name="Google Shape;165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91500" y="1984027"/>
            <a:ext cx="3429000" cy="3819525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7"/>
          <p:cNvSpPr txBox="1"/>
          <p:nvPr/>
        </p:nvSpPr>
        <p:spPr>
          <a:xfrm>
            <a:off x="962025" y="3117502"/>
            <a:ext cx="210026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1. Data Ingestion</a:t>
            </a:r>
            <a:endParaRPr/>
          </a:p>
        </p:txBody>
      </p:sp>
      <p:sp>
        <p:nvSpPr>
          <p:cNvPr id="167" name="Google Shape;167;p17"/>
          <p:cNvSpPr txBox="1"/>
          <p:nvPr/>
        </p:nvSpPr>
        <p:spPr>
          <a:xfrm>
            <a:off x="962025" y="3584227"/>
            <a:ext cx="264795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Preparing the knowledge base. This involves parsing documents (PDF, CSV), breaking them into chunks, creating vector embeddings, and storing them.</a:t>
            </a:r>
            <a:endParaRPr/>
          </a:p>
        </p:txBody>
      </p:sp>
      <p:sp>
        <p:nvSpPr>
          <p:cNvPr id="168" name="Google Shape;168;p17"/>
          <p:cNvSpPr txBox="1"/>
          <p:nvPr/>
        </p:nvSpPr>
        <p:spPr>
          <a:xfrm>
            <a:off x="4772025" y="3117502"/>
            <a:ext cx="1430178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2. Retrieval</a:t>
            </a:r>
            <a:endParaRPr/>
          </a:p>
        </p:txBody>
      </p:sp>
      <p:sp>
        <p:nvSpPr>
          <p:cNvPr id="169" name="Google Shape;169;p17"/>
          <p:cNvSpPr txBox="1"/>
          <p:nvPr/>
        </p:nvSpPr>
        <p:spPr>
          <a:xfrm>
            <a:off x="4772025" y="3584227"/>
            <a:ext cx="264795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When a user asks a query, the system searches the stored vector embeddings to find the most relevant document chunks based on mathematical similarity.</a:t>
            </a:r>
            <a:endParaRPr/>
          </a:p>
        </p:txBody>
      </p:sp>
      <p:sp>
        <p:nvSpPr>
          <p:cNvPr id="170" name="Google Shape;170;p17"/>
          <p:cNvSpPr txBox="1"/>
          <p:nvPr/>
        </p:nvSpPr>
        <p:spPr>
          <a:xfrm>
            <a:off x="8582025" y="3117502"/>
            <a:ext cx="173021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3. Generation</a:t>
            </a:r>
            <a:endParaRPr/>
          </a:p>
        </p:txBody>
      </p:sp>
      <p:sp>
        <p:nvSpPr>
          <p:cNvPr id="171" name="Google Shape;171;p17"/>
          <p:cNvSpPr txBox="1"/>
          <p:nvPr/>
        </p:nvSpPr>
        <p:spPr>
          <a:xfrm>
            <a:off x="8582025" y="3584227"/>
            <a:ext cx="264795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The retrieved chunks (context) and the original user query are fed into an LLM via a prompt to generate an accurate, evidence-based answer.</a:t>
            </a:r>
            <a:endParaRPr/>
          </a:p>
        </p:txBody>
      </p:sp>
      <p:pic>
        <p:nvPicPr>
          <p:cNvPr descr="image.png" id="172" name="Google Shape;172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62025" y="2412652"/>
            <a:ext cx="4000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3" name="Google Shape;173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772025" y="2412652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4" name="Google Shape;174;p1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582025" y="2412652"/>
            <a:ext cx="5715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7"/>
          <p:cNvSpPr txBox="1"/>
          <p:nvPr/>
        </p:nvSpPr>
        <p:spPr>
          <a:xfrm>
            <a:off x="571500" y="571500"/>
            <a:ext cx="116014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The Two Core </a:t>
            </a:r>
            <a:r>
              <a:rPr b="1" i="0" lang="en-US" sz="360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Pipelines</a:t>
            </a:r>
            <a:r>
              <a:rPr b="1" i="0" lang="en-US" sz="36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 of RAG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0" name="Google Shape;180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1" name="Google Shape;181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215925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18"/>
          <p:cNvSpPr txBox="1"/>
          <p:nvPr/>
        </p:nvSpPr>
        <p:spPr>
          <a:xfrm>
            <a:off x="771525" y="1408330"/>
            <a:ext cx="381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83" name="Google Shape;183;p18"/>
          <p:cNvSpPr txBox="1"/>
          <p:nvPr/>
        </p:nvSpPr>
        <p:spPr>
          <a:xfrm>
            <a:off x="1285875" y="1406425"/>
            <a:ext cx="4572000" cy="10970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Parse the Data:</a:t>
            </a:r>
            <a:r>
              <a:rPr b="0" i="0" lang="en-US" sz="18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Use loaders (like PyMuPDF) to read unstructured data (PDFs, internal wikis) and extract text and metadata.</a:t>
            </a:r>
            <a:endParaRPr/>
          </a:p>
        </p:txBody>
      </p:sp>
      <p:sp>
        <p:nvSpPr>
          <p:cNvPr id="184" name="Google Shape;184;p18"/>
          <p:cNvSpPr txBox="1"/>
          <p:nvPr/>
        </p:nvSpPr>
        <p:spPr>
          <a:xfrm>
            <a:off x="771525" y="2791092"/>
            <a:ext cx="381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85" name="Google Shape;185;p18"/>
          <p:cNvSpPr txBox="1"/>
          <p:nvPr/>
        </p:nvSpPr>
        <p:spPr>
          <a:xfrm>
            <a:off x="1285875" y="2789187"/>
            <a:ext cx="4572000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Chunking:</a:t>
            </a:r>
            <a:r>
              <a:rPr b="0" i="0" lang="en-US" sz="18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Divide large documents into smaller, manageable text blocks.</a:t>
            </a:r>
            <a:endParaRPr/>
          </a:p>
        </p:txBody>
      </p:sp>
      <p:sp>
        <p:nvSpPr>
          <p:cNvPr id="186" name="Google Shape;186;p18"/>
          <p:cNvSpPr txBox="1"/>
          <p:nvPr/>
        </p:nvSpPr>
        <p:spPr>
          <a:xfrm>
            <a:off x="771525" y="3808184"/>
            <a:ext cx="381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87" name="Google Shape;187;p18"/>
          <p:cNvSpPr txBox="1"/>
          <p:nvPr/>
        </p:nvSpPr>
        <p:spPr>
          <a:xfrm>
            <a:off x="1285875" y="3806279"/>
            <a:ext cx="4572000" cy="10970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Generate Embeddings:</a:t>
            </a:r>
            <a:r>
              <a:rPr b="0" i="0" lang="en-US" sz="18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Convert the text chunks into numerical vectors using models like Sentence Transformers.</a:t>
            </a:r>
            <a:endParaRPr/>
          </a:p>
        </p:txBody>
      </p:sp>
      <p:sp>
        <p:nvSpPr>
          <p:cNvPr id="188" name="Google Shape;188;p18"/>
          <p:cNvSpPr txBox="1"/>
          <p:nvPr/>
        </p:nvSpPr>
        <p:spPr>
          <a:xfrm>
            <a:off x="771525" y="5190946"/>
            <a:ext cx="381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89" name="Google Shape;189;p18"/>
          <p:cNvSpPr txBox="1"/>
          <p:nvPr/>
        </p:nvSpPr>
        <p:spPr>
          <a:xfrm>
            <a:off x="1285875" y="5189041"/>
            <a:ext cx="4572000" cy="10970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Vector Store:</a:t>
            </a:r>
            <a:r>
              <a:rPr b="0" i="0" lang="en-US" sz="18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Save these vectors in a Vector Database (like ChromaDB or FAISS) for rapid retrieval later.</a:t>
            </a:r>
            <a:endParaRPr/>
          </a:p>
        </p:txBody>
      </p:sp>
      <p:pic>
        <p:nvPicPr>
          <p:cNvPr descr="image.png" id="190" name="Google Shape;190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43650" y="1225450"/>
            <a:ext cx="5267325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18"/>
          <p:cNvSpPr txBox="1"/>
          <p:nvPr/>
        </p:nvSpPr>
        <p:spPr>
          <a:xfrm>
            <a:off x="571500" y="286345"/>
            <a:ext cx="116014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Step 1: </a:t>
            </a:r>
            <a:r>
              <a:rPr b="1" i="0" lang="en-US" sz="360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Data Ingestion</a:t>
            </a:r>
            <a:r>
              <a:rPr b="1" i="0" lang="en-US" sz="36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 Pipeline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6" name="Google Shape;196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19"/>
          <p:cNvSpPr txBox="1"/>
          <p:nvPr/>
        </p:nvSpPr>
        <p:spPr>
          <a:xfrm>
            <a:off x="571500" y="2014983"/>
            <a:ext cx="54483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Context</a:t>
            </a:r>
            <a:endParaRPr/>
          </a:p>
        </p:txBody>
      </p:sp>
      <p:sp>
        <p:nvSpPr>
          <p:cNvPr id="198" name="Google Shape;198;p19"/>
          <p:cNvSpPr txBox="1"/>
          <p:nvPr/>
        </p:nvSpPr>
        <p:spPr>
          <a:xfrm>
            <a:off x="571500" y="3634233"/>
            <a:ext cx="54483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CBD5E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Strict Token Limits</a:t>
            </a:r>
            <a:endParaRPr/>
          </a:p>
        </p:txBody>
      </p:sp>
      <p:sp>
        <p:nvSpPr>
          <p:cNvPr id="199" name="Google Shape;199;p19"/>
          <p:cNvSpPr txBox="1"/>
          <p:nvPr/>
        </p:nvSpPr>
        <p:spPr>
          <a:xfrm>
            <a:off x="6496050" y="2300733"/>
            <a:ext cx="5380672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Fitting the Model's Constraints</a:t>
            </a:r>
            <a:endParaRPr/>
          </a:p>
        </p:txBody>
      </p:sp>
      <p:sp>
        <p:nvSpPr>
          <p:cNvPr id="200" name="Google Shape;200;p19"/>
          <p:cNvSpPr txBox="1"/>
          <p:nvPr/>
        </p:nvSpPr>
        <p:spPr>
          <a:xfrm>
            <a:off x="6496050" y="2805558"/>
            <a:ext cx="5124450" cy="13406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You cannot pass a 1,000-page PDF directly into an LLM or an embedding model. Every model has a fixed "context window" (maximum number of tokens it can process at once).</a:t>
            </a:r>
            <a:endParaRPr/>
          </a:p>
        </p:txBody>
      </p:sp>
      <p:sp>
        <p:nvSpPr>
          <p:cNvPr id="201" name="Google Shape;201;p19"/>
          <p:cNvSpPr txBox="1"/>
          <p:nvPr/>
        </p:nvSpPr>
        <p:spPr>
          <a:xfrm>
            <a:off x="6496050" y="4289077"/>
            <a:ext cx="5124450" cy="13406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Chunking solves this by breaking the data into smaller, overlapping segments (e.g., 1000 characters). This ensures the text fits into the model perfectly while retaining contextual flow.</a:t>
            </a:r>
            <a:endParaRPr/>
          </a:p>
        </p:txBody>
      </p:sp>
      <p:sp>
        <p:nvSpPr>
          <p:cNvPr id="202" name="Google Shape;202;p19"/>
          <p:cNvSpPr txBox="1"/>
          <p:nvPr/>
        </p:nvSpPr>
        <p:spPr>
          <a:xfrm>
            <a:off x="571500" y="571500"/>
            <a:ext cx="116014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The Importance of </a:t>
            </a:r>
            <a:r>
              <a:rPr b="1" i="0" lang="en-US" sz="360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Chunking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7" name="Google Shape;207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8" name="Google Shape;208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09687" y="1988790"/>
            <a:ext cx="381000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20"/>
          <p:cNvSpPr txBox="1"/>
          <p:nvPr/>
        </p:nvSpPr>
        <p:spPr>
          <a:xfrm>
            <a:off x="6334125" y="2157858"/>
            <a:ext cx="5550693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From Text to Mathematics</a:t>
            </a:r>
            <a:endParaRPr/>
          </a:p>
        </p:txBody>
      </p:sp>
      <p:sp>
        <p:nvSpPr>
          <p:cNvPr id="210" name="Google Shape;210;p20"/>
          <p:cNvSpPr txBox="1"/>
          <p:nvPr/>
        </p:nvSpPr>
        <p:spPr>
          <a:xfrm>
            <a:off x="6334125" y="2662683"/>
            <a:ext cx="5286375" cy="1005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Embeddings are a numerical representation of text. An embedding model translates human sentences into high-dimensional arrays of numbers (e.g., 384 dimensions).</a:t>
            </a:r>
            <a:endParaRPr/>
          </a:p>
        </p:txBody>
      </p:sp>
      <p:sp>
        <p:nvSpPr>
          <p:cNvPr id="211" name="Google Shape;211;p20"/>
          <p:cNvSpPr txBox="1"/>
          <p:nvPr/>
        </p:nvSpPr>
        <p:spPr>
          <a:xfrm>
            <a:off x="6334125" y="3811041"/>
            <a:ext cx="5286375" cy="16758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This allows the database to measure the "distance" between sentences. If a user's query and a document chunk mean the same thing, their vectors will mathematically sit closely together in a 3D space, enabling lightning-fast similarity searches.</a:t>
            </a:r>
            <a:endParaRPr/>
          </a:p>
        </p:txBody>
      </p:sp>
      <p:pic>
        <p:nvPicPr>
          <p:cNvPr descr="image.png" id="212" name="Google Shape;212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47787" y="2026890"/>
            <a:ext cx="3733800" cy="3733800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20"/>
          <p:cNvSpPr txBox="1"/>
          <p:nvPr/>
        </p:nvSpPr>
        <p:spPr>
          <a:xfrm>
            <a:off x="571500" y="571500"/>
            <a:ext cx="116014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What are </a:t>
            </a:r>
            <a:r>
              <a:rPr b="1" i="0" lang="en-US" sz="360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Embeddings</a:t>
            </a:r>
            <a:r>
              <a:rPr b="1" i="0" lang="en-US" sz="36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?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8" name="Google Shape;218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21"/>
          <p:cNvSpPr txBox="1"/>
          <p:nvPr/>
        </p:nvSpPr>
        <p:spPr>
          <a:xfrm>
            <a:off x="1047750" y="1859607"/>
            <a:ext cx="9048750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Embed User Query:</a:t>
            </a:r>
            <a:r>
              <a:rPr b="0" i="0" lang="en-US" sz="18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Convert the user's question into a numerical vector using the exact same embedding model used in data ingestion.</a:t>
            </a:r>
            <a:endParaRPr/>
          </a:p>
        </p:txBody>
      </p:sp>
      <p:sp>
        <p:nvSpPr>
          <p:cNvPr id="220" name="Google Shape;220;p21"/>
          <p:cNvSpPr txBox="1"/>
          <p:nvPr/>
        </p:nvSpPr>
        <p:spPr>
          <a:xfrm>
            <a:off x="1047750" y="2876698"/>
            <a:ext cx="9048750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Similarity Search:</a:t>
            </a:r>
            <a:r>
              <a:rPr b="0" i="0" lang="en-US" sz="18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The Vector Database compares the query vector to stored chunks and returns the top matches.</a:t>
            </a:r>
            <a:endParaRPr/>
          </a:p>
        </p:txBody>
      </p:sp>
      <p:sp>
        <p:nvSpPr>
          <p:cNvPr id="221" name="Google Shape;221;p21"/>
          <p:cNvSpPr txBox="1"/>
          <p:nvPr/>
        </p:nvSpPr>
        <p:spPr>
          <a:xfrm>
            <a:off x="1047750" y="3893790"/>
            <a:ext cx="9048750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Context Augmentation:</a:t>
            </a:r>
            <a:r>
              <a:rPr b="0" i="0" lang="en-US" sz="18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Pack the original query AND the retrieved chunks into a system prompt.</a:t>
            </a:r>
            <a:endParaRPr/>
          </a:p>
        </p:txBody>
      </p:sp>
      <p:sp>
        <p:nvSpPr>
          <p:cNvPr id="222" name="Google Shape;222;p21"/>
          <p:cNvSpPr txBox="1"/>
          <p:nvPr/>
        </p:nvSpPr>
        <p:spPr>
          <a:xfrm>
            <a:off x="1047750" y="4910881"/>
            <a:ext cx="9048750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LLM Generation:</a:t>
            </a:r>
            <a:r>
              <a:rPr b="0" i="0" lang="en-US" sz="18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The LLM reads the context, synthesizes the information, and generates an accurate, hallucination-free answer.</a:t>
            </a:r>
            <a:endParaRPr/>
          </a:p>
        </p:txBody>
      </p:sp>
      <p:pic>
        <p:nvPicPr>
          <p:cNvPr descr="image.png" id="223" name="Google Shape;223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892944"/>
            <a:ext cx="238125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4" name="Google Shape;224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910036"/>
            <a:ext cx="238125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5" name="Google Shape;225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927127"/>
            <a:ext cx="238125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6" name="Google Shape;226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4944219"/>
            <a:ext cx="238125" cy="276225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21"/>
          <p:cNvSpPr txBox="1"/>
          <p:nvPr/>
        </p:nvSpPr>
        <p:spPr>
          <a:xfrm>
            <a:off x="571500" y="571500"/>
            <a:ext cx="116014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Step 2: </a:t>
            </a:r>
            <a:r>
              <a:rPr b="1" i="0" lang="en-US" sz="360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Retrieval &amp; Generation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2" name="Google Shape;232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22"/>
          <p:cNvSpPr txBox="1"/>
          <p:nvPr/>
        </p:nvSpPr>
        <p:spPr>
          <a:xfrm>
            <a:off x="295275" y="2499419"/>
            <a:ext cx="11601450" cy="1038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75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Questions?</a:t>
            </a:r>
            <a:endParaRPr/>
          </a:p>
        </p:txBody>
      </p:sp>
      <p:sp>
        <p:nvSpPr>
          <p:cNvPr id="234" name="Google Shape;234;p22"/>
          <p:cNvSpPr txBox="1"/>
          <p:nvPr/>
        </p:nvSpPr>
        <p:spPr>
          <a:xfrm>
            <a:off x="571500" y="3728144"/>
            <a:ext cx="11049000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RAG enables accuracy, privacy, and efficiency for AI.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9" name="Google Shape;239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23"/>
          <p:cNvSpPr/>
          <p:nvPr/>
        </p:nvSpPr>
        <p:spPr>
          <a:xfrm>
            <a:off x="571500" y="3014662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23"/>
          <p:cNvSpPr/>
          <p:nvPr/>
        </p:nvSpPr>
        <p:spPr>
          <a:xfrm>
            <a:off x="571500" y="3789908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23"/>
          <p:cNvSpPr/>
          <p:nvPr/>
        </p:nvSpPr>
        <p:spPr>
          <a:xfrm>
            <a:off x="571500" y="3789908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43" name="Google Shape;243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16408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23"/>
          <p:cNvSpPr txBox="1"/>
          <p:nvPr/>
        </p:nvSpPr>
        <p:spPr>
          <a:xfrm>
            <a:off x="1666875" y="3157537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https://www.yfiles.com/_astro/graph-aggregation.D9Eh-gAD_Z2r066f.png</a:t>
            </a:r>
            <a:endParaRPr/>
          </a:p>
        </p:txBody>
      </p:sp>
      <p:sp>
        <p:nvSpPr>
          <p:cNvPr id="245" name="Google Shape;245;p23"/>
          <p:cNvSpPr txBox="1"/>
          <p:nvPr/>
        </p:nvSpPr>
        <p:spPr>
          <a:xfrm>
            <a:off x="1666875" y="3403252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www.yfiles.com</a:t>
            </a:r>
            <a:endParaRPr/>
          </a:p>
        </p:txBody>
      </p:sp>
      <p:pic>
        <p:nvPicPr>
          <p:cNvPr descr="image.png" id="246" name="Google Shape;246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4047976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23"/>
          <p:cNvSpPr txBox="1"/>
          <p:nvPr/>
        </p:nvSpPr>
        <p:spPr>
          <a:xfrm>
            <a:off x="1666875" y="3942308"/>
            <a:ext cx="9953625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https://media.istockphoto.com/id/899822874/vector/abstract-3d-big-data-visualization-futuristic-infographics-design.jpg?s=612x612&amp;w=is&amp;k=20&amp;c=gtUnCA6UhUmYP1oFZVUp5dWRuSorHFHuaip2ReXvGgQ=</a:t>
            </a:r>
            <a:endParaRPr/>
          </a:p>
        </p:txBody>
      </p:sp>
      <p:sp>
        <p:nvSpPr>
          <p:cNvPr id="248" name="Google Shape;248;p23"/>
          <p:cNvSpPr txBox="1"/>
          <p:nvPr/>
        </p:nvSpPr>
        <p:spPr>
          <a:xfrm>
            <a:off x="1666875" y="4386113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www.istockphoto.com</a:t>
            </a:r>
            <a:endParaRPr/>
          </a:p>
        </p:txBody>
      </p:sp>
      <p:sp>
        <p:nvSpPr>
          <p:cNvPr id="249" name="Google Shape;249;p23"/>
          <p:cNvSpPr txBox="1"/>
          <p:nvPr/>
        </p:nvSpPr>
        <p:spPr>
          <a:xfrm>
            <a:off x="571500" y="571500"/>
            <a:ext cx="116014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Image Sources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